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000" b="1">
                <a:solidFill>
                  <a:srgbClr val="161C26"/>
                </a:solidFill>
                <a:latin typeface="Calibri"/>
              </a:defRPr>
            </a:pPr>
            <a:r>
              <a:t>Ασφαλής Αποκεντρωμένη</a:t>
            </a:r>
            <a:br/>
            <a:r>
              <a:t>Ομοσπονδιακή Μάθηση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71800"/>
            <a:ext cx="99669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0">
                <a:solidFill>
                  <a:srgbClr val="555C69"/>
                </a:solidFill>
                <a:latin typeface="Calibri"/>
              </a:defRPr>
            </a:pPr>
            <a:r>
              <a:t>Baseline DFL, masking, selective HE, adaptive hybrid security και audit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166360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0">
                <a:solidFill>
                  <a:srgbClr val="18599A"/>
                </a:solidFill>
                <a:latin typeface="Calibri"/>
              </a:defRPr>
            </a:pPr>
            <a:r>
              <a:t>Τεχνική παρουσίαση διπλωματικής εργασίας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Δομή παρουσίασης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Πρόβλημα και βασική DFL υλοποίηση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Μηχανισμοί ασφάλειας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Πειραματικά αποτελέσματα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Validation και audit layer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Συμπεράσματα και περιορισμοί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Πρόβλημα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Τα δεδομένα μπορεί να είναι κατανεμημένα σε διαφορετικούς κόμβους.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Η κεντρική συλλογή δεδομένων δεν είναι πάντα επιθυμητή.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Χρειάζεται εκπαίδευση χωρίς μεταφορά raw δεδομένων.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Η ασφάλεια πρέπει να μετριέται μαζί με το κόστος της.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Στόχος της εργασίας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2461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63677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18599A"/>
                </a:solidFill>
                <a:latin typeface="Calibri"/>
              </a:defRPr>
            </a:pPr>
            <a:r>
              <a:t>Μάθηση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039112"/>
            <a:ext cx="28437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Baseline decentralized federated learning σε MNIST.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246120" cy="1417320"/>
          </a:xfrm>
          <a:prstGeom prst="roundRect">
            <a:avLst/>
          </a:prstGeom>
          <a:solidFill>
            <a:srgbClr val="FCF1EA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63677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CD5C2D"/>
                </a:solidFill>
                <a:latin typeface="Calibri"/>
              </a:defRPr>
            </a:pPr>
            <a:r>
              <a:t>Ασφάλεια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039112"/>
            <a:ext cx="28437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Masking, pairwise masking και selective 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246120" cy="1417320"/>
          </a:xfrm>
          <a:prstGeom prst="roundRect">
            <a:avLst/>
          </a:prstGeom>
          <a:solidFill>
            <a:srgbClr val="EBF8F1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63677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218253"/>
                </a:solidFill>
                <a:latin typeface="Calibri"/>
              </a:defRPr>
            </a:pPr>
            <a:r>
              <a:t>Έλεγχος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039112"/>
            <a:ext cx="28437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Audit layer για integrity και tamper detection.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1498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Ο στόχος δεν ήταν μόνο να τρέξει ένα μοντέλο, αλλά να φανεί το trade-off ανάμεσα σε accuracy, privacy, overhead και auditability.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Βασική DFL υλοποίηση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3246120" cy="1371600"/>
          </a:xfrm>
          <a:prstGeom prst="roundRect">
            <a:avLst/>
          </a:prstGeom>
          <a:solidFill>
            <a:srgbClr val="EBF3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59105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18599A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93392"/>
            <a:ext cx="2843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5 clients με τοπικά data loaders.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46120" cy="1371600"/>
          </a:xfrm>
          <a:prstGeom prst="roundRect">
            <a:avLst/>
          </a:prstGeom>
          <a:solidFill>
            <a:srgbClr val="EBF3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59105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18599A"/>
                </a:solidFill>
                <a:latin typeface="Calibri"/>
              </a:defRPr>
            </a:pPr>
            <a:r>
              <a:t>Τοπολογία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1993392"/>
            <a:ext cx="2843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Ring topology ως βασικό σενάριο.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246120" cy="1371600"/>
          </a:xfrm>
          <a:prstGeom prst="roundRect">
            <a:avLst/>
          </a:prstGeom>
          <a:solidFill>
            <a:srgbClr val="EBF3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59105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18599A"/>
                </a:solidFill>
                <a:latin typeface="Calibri"/>
              </a:defRPr>
            </a:pPr>
            <a:r>
              <a:t>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993392"/>
            <a:ext cx="2843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Averaging με local και neighbor states.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100584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Η baseline λογική κρατήθηκε σταθερή σε όλα τα security modes.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Έτσι η σύγκριση των μηχανισμών γίνεται πιο δίκαιη.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053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Γιατί decentralized και όχι κεντρικό FL;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Δεν υπάρχει κεντρικός aggregation server.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Κάθε client επικοινωνεί μόνο με γείτονες.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Η τοπολογία επηρεάζει communication και convergence.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setup είναι κατάλληλο για peer-to-peer security μηχανισμούς.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Μηχανισμοί ασφάλειας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53895"/>
            <a:ext cx="3072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18599A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30723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0">
                <a:solidFill>
                  <a:srgbClr val="161C26"/>
                </a:solidFill>
                <a:latin typeface="Calibri"/>
              </a:defRPr>
            </a:pPr>
            <a:r>
              <a:t>Baseline χωρίς επιπλέον προστασία.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453895"/>
            <a:ext cx="3072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18599A"/>
                </a:solidFill>
                <a:latin typeface="Calibri"/>
              </a:defRPr>
            </a:pPr>
            <a:r>
              <a:t>masking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56231"/>
            <a:ext cx="30723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0">
                <a:solidFill>
                  <a:srgbClr val="161C26"/>
                </a:solidFill>
                <a:latin typeface="Calibri"/>
              </a:defRPr>
            </a:pPr>
            <a:r>
              <a:t>Απλό additive masking.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747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453895"/>
            <a:ext cx="3072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18599A"/>
                </a:solidFill>
                <a:latin typeface="Calibri"/>
              </a:defRPr>
            </a:pPr>
            <a:r>
              <a:t>pairwise_masking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856231"/>
            <a:ext cx="30723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0">
                <a:solidFill>
                  <a:srgbClr val="161C26"/>
                </a:solidFill>
                <a:latin typeface="Calibri"/>
              </a:defRPr>
            </a:pPr>
            <a:r>
              <a:t>Masks που ακυρώνονται στην aggregation.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429000"/>
            <a:ext cx="3474720" cy="1417320"/>
          </a:xfrm>
          <a:prstGeom prst="roundRect">
            <a:avLst/>
          </a:prstGeom>
          <a:solidFill>
            <a:srgbClr val="FCF1EA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0048" y="3557016"/>
            <a:ext cx="3072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CD5C2D"/>
                </a:solidFill>
                <a:latin typeface="Calibri"/>
              </a:defRPr>
            </a:pPr>
            <a:r>
              <a:t>selective_he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959352"/>
            <a:ext cx="30723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0">
                <a:solidFill>
                  <a:srgbClr val="161C26"/>
                </a:solidFill>
                <a:latin typeface="Calibri"/>
              </a:defRPr>
            </a:pPr>
            <a:r>
              <a:t>CKKS HE στο final layer.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29000"/>
            <a:ext cx="3474720" cy="1417320"/>
          </a:xfrm>
          <a:prstGeom prst="roundRect">
            <a:avLst/>
          </a:prstGeom>
          <a:solidFill>
            <a:srgbClr val="FCF1EA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557016"/>
            <a:ext cx="3072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CD5C2D"/>
                </a:solidFill>
                <a:latin typeface="Calibri"/>
              </a:defRPr>
            </a:pPr>
            <a:r>
              <a:t>adaptive_hybrid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959352"/>
            <a:ext cx="30723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0">
                <a:solidFill>
                  <a:srgbClr val="161C26"/>
                </a:solidFill>
                <a:latin typeface="Calibri"/>
              </a:defRPr>
            </a:pPr>
            <a:r>
              <a:t>Masking παντού, HE σε selected targets.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Masking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Κάθε client καλύπτει το model state με πρόσθετη μάσκα.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Η πρώτη έκδοση είναι simulation προστατευμένης ανταλλαγής.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Καταγράφεται masking time και masking overhead.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Δεν αλλάζει η βασική λογική του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Pairwise masking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Δημιουργούνται ζεύγη masks ανά aggregation neighborhood.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Οι μάσκες ακυρώνονται κατά τον μέσο όρο.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cancellation error παραμένει πολύ μικρό.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overhead παραμένει ελεγχόμενο.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Selective Homomorphic Encryption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Χρησιμοποιείται CKKS μέσω TenSEAL.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Η κρυπτογράφηση εφαρμόζεται επιλεκτικά στο final layer.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Μειώνεται το κόστος σε σχέση με full-model HE.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Μετρώνται encryption, aggregation και decryption 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Προσαρμοστικό υβριδικό σχήμα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Pairwise masking εφαρμόζεται σε όλο το δίκτυο.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Selective HE εφαρμόζεται μόνο σε high-risk target neighborhoods.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Τα targets επιλέγονται με risk scores.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Στο default setup το HE target ratio είναι 0.4.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Risk-based επιλογή HE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12</a:t>
            </a:r>
          </a:p>
        </p:txBody>
      </p:sp>
      <p:pic>
        <p:nvPicPr>
          <p:cNvPr id="5" name="Picture 4" descr="adaptive_he_targets_by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5166360" cy="3429000"/>
          </a:xfrm>
          <a:prstGeom prst="rect">
            <a:avLst/>
          </a:prstGeom>
        </p:spPr>
      </p:pic>
      <p:pic>
        <p:nvPicPr>
          <p:cNvPr id="6" name="Picture 5" descr="risk_score_by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16636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5166360"/>
            <a:ext cx="100584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61C26"/>
                </a:solidFill>
                <a:latin typeface="Calibri"/>
              </a:defRPr>
            </a:pPr>
            <a:r>
              <a:t>Η επιλογή HE δεν είναι στατική.</a:t>
            </a:r>
          </a:p>
          <a:p>
            <a:pPr>
              <a:spcAft>
                <a:spcPts val="1100"/>
              </a:spcAft>
              <a:defRPr sz="2100" b="0">
                <a:solidFill>
                  <a:srgbClr val="161C26"/>
                </a:solidFill>
                <a:latin typeface="Calibri"/>
              </a:defRPr>
            </a:pPr>
            <a:r>
              <a:t>Συνδέεται με τη συμπεριφορά των updates και το split type.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Αποτελέσματα IID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6304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MiB/round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Round time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92.36%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3.88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7.37s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pairwise_masking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92.36%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3.88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7.78s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selective_he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92.37%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7.02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7.69s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adaptive_hybrid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92.36%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5.14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8.17s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0120" y="4892040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300" b="0">
                <a:solidFill>
                  <a:srgbClr val="161C26"/>
                </a:solidFill>
                <a:latin typeface="Calibri"/>
              </a:defRPr>
            </a:pPr>
            <a:r>
              <a:t>Στο IID, οι βασικές μέθοδοι παραμένουν περίπου στο 92.36%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Αποτελέσματα non-IID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6304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Test loss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MiB/round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62.15%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1.199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3.88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pairwise_masking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62.15%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1.199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3.88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selective_he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62.15%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1.199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7.02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adaptive_hybrid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62.15%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1.199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5.14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0120" y="4892040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300" b="0">
                <a:solidFill>
                  <a:srgbClr val="161C26"/>
                </a:solidFill>
                <a:latin typeface="Calibri"/>
              </a:defRPr>
            </a:pPr>
            <a:r>
              <a:t>Στο non-IID, η τελική accuracy πέφτει περίπου στο 62.15%, άρα το split είναι σαφώς δυσκολότερο.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Σύγκριση τελικής ακρίβειας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15</a:t>
            </a:r>
          </a:p>
        </p:txBody>
      </p:sp>
      <p:pic>
        <p:nvPicPr>
          <p:cNvPr id="5" name="Picture 4" descr="fina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80160"/>
            <a:ext cx="10241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Κόστος επικοινωνίας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16</a:t>
            </a:r>
          </a:p>
        </p:txBody>
      </p:sp>
      <p:pic>
        <p:nvPicPr>
          <p:cNvPr id="5" name="Picture 4" descr="communic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80160"/>
            <a:ext cx="10241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Χρόνος Homomorphic Encryption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17</a:t>
            </a:r>
          </a:p>
        </p:txBody>
      </p:sp>
      <p:pic>
        <p:nvPicPr>
          <p:cNvPr id="5" name="Picture 4" descr="he_total_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80160"/>
            <a:ext cx="10241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Πειράματα επαλήθευσης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Τρέχει διαφορετικά random seeds.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Δοκιμάζει διαφορετικό αριθμό clients.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Συγκρίνει ring και fully connected topologies.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Καλύπτει IID και non-IID split types.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Στόχος: robustness, όχι ένα μόνο μεμονωμένο run.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Validation plots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19</a:t>
            </a:r>
          </a:p>
        </p:txBody>
      </p:sp>
      <p:pic>
        <p:nvPicPr>
          <p:cNvPr id="5" name="Picture 4" descr="validation_accuracy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5166360" cy="3429000"/>
          </a:xfrm>
          <a:prstGeom prst="rect">
            <a:avLst/>
          </a:prstGeom>
        </p:spPr>
      </p:pic>
      <p:pic>
        <p:nvPicPr>
          <p:cNvPr id="6" name="Picture 5" descr="validation_communication_by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16636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5193792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61C26"/>
                </a:solidFill>
                <a:latin typeface="Calibri"/>
              </a:defRPr>
            </a:pPr>
            <a:r>
              <a:t>Τα validation outputs αποθηκεύονται ξεχωριστά στο results/validation.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Ελαφρύ blockchain audit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Κάθε communication round δημιουργεί ένα block.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Τα blocks συνδέονται με previous_hash και current_hash.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Αποθηκεύονται metadata, metrics και client model hashes.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Δεν συμμετέχει στο aggregation και δεν αλλάζει το training.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Προηγμένο audit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32461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59105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18599A"/>
                </a:solidFill>
                <a:latin typeface="Calibri"/>
              </a:defRPr>
            </a:pPr>
            <a:r>
              <a:t>JSONL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93392"/>
            <a:ext cx="28437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Append-only audit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46120" cy="1417320"/>
          </a:xfrm>
          <a:prstGeom prst="roundRect">
            <a:avLst/>
          </a:prstGeom>
          <a:solidFill>
            <a:srgbClr val="EBF8F1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59105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218253"/>
                </a:solidFill>
                <a:latin typeface="Calibri"/>
              </a:defRPr>
            </a:pPr>
            <a:r>
              <a:t>Ed25519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1993392"/>
            <a:ext cx="28437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Πραγματικές ψηφιακές υπογραφές.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246120" cy="1417320"/>
          </a:xfrm>
          <a:prstGeom prst="roundRect">
            <a:avLst/>
          </a:prstGeom>
          <a:solidFill>
            <a:srgbClr val="FCF1EA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591056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CD5C2D"/>
                </a:solidFill>
                <a:latin typeface="Calibri"/>
              </a:defRPr>
            </a:pPr>
            <a:r>
              <a:t>Merkle root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993392"/>
            <a:ext cx="28437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Σύνοψη client model hashes.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69080"/>
            <a:ext cx="100584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audit package επαληθεύεται μετά το training με CLI verifier.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Τι υπογράφει κάθε client;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experiment_name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client_id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round_number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model_hash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security_mode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merkle_root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91640"/>
            <a:ext cx="4754880" cy="1737360"/>
          </a:xfrm>
          <a:prstGeom prst="roundRect">
            <a:avLst/>
          </a:prstGeom>
          <a:solidFill>
            <a:srgbClr val="EBF8F1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0528" y="1819656"/>
            <a:ext cx="43525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218253"/>
                </a:solidFill>
                <a:latin typeface="Calibri"/>
              </a:defRPr>
            </a:pPr>
            <a:r>
              <a:t>Γιατί;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2221992"/>
            <a:ext cx="4352544" cy="10789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0">
                <a:solidFill>
                  <a:srgbClr val="161C26"/>
                </a:solidFill>
                <a:latin typeface="Calibri"/>
              </a:defRPr>
            </a:pPr>
            <a:r>
              <a:t>Η υπογραφή δένει τον client, το round και το συγκεκριμένο model hash.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754880" cy="1325880"/>
          </a:xfrm>
          <a:prstGeom prst="roundRect">
            <a:avLst/>
          </a:prstGeom>
          <a:solidFill>
            <a:srgbClr val="FCF1EA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4105655"/>
            <a:ext cx="43525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CD5C2D"/>
                </a:solidFill>
                <a:latin typeface="Calibri"/>
              </a:defRPr>
            </a:pPr>
            <a:r>
              <a:t>Προσοχή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4507992"/>
            <a:ext cx="4352544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0">
                <a:solidFill>
                  <a:srgbClr val="161C26"/>
                </a:solidFill>
                <a:latin typeface="Calibri"/>
              </a:defRPr>
            </a:pPr>
            <a:r>
              <a:t>Δεν αποθηκεύονται private keys ή model parameters στο ledger.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Audit demo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201168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555C69"/>
                </a:solidFill>
                <a:latin typeface="Calibri"/>
              </a:defRPr>
            </a:pPr>
            <a:r>
              <a:t>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2011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18599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481328"/>
            <a:ext cx="2377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555C69"/>
                </a:solidFill>
                <a:latin typeface="Calibri"/>
              </a:defRPr>
            </a:pPr>
            <a:r>
              <a:t>Υπογραφές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64792"/>
            <a:ext cx="2377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218253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481328"/>
            <a:ext cx="2560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555C69"/>
                </a:solidFill>
                <a:latin typeface="Calibri"/>
              </a:defRPr>
            </a:pPr>
            <a:r>
              <a:t>Merkle proofs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764792"/>
            <a:ext cx="2560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218253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481328"/>
            <a:ext cx="2377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555C69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764792"/>
            <a:ext cx="2377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218253"/>
                </a:solidFill>
                <a:latin typeface="Calibri"/>
              </a:defRPr>
            </a:pPr>
            <a:r>
              <a:t>VALID</a:t>
            </a:r>
          </a:p>
        </p:txBody>
      </p:sp>
      <p:pic>
        <p:nvPicPr>
          <p:cNvPr id="13" name="Picture 12" descr="audit_accuracy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17520"/>
            <a:ext cx="4846320" cy="2468880"/>
          </a:xfrm>
          <a:prstGeom prst="rect">
            <a:avLst/>
          </a:prstGeom>
        </p:spPr>
      </p:pic>
      <p:pic>
        <p:nvPicPr>
          <p:cNvPr id="14" name="Picture 13" descr="audit_generation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7520"/>
            <a:ext cx="48463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Ανίχνευση αλλοίωσης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17320"/>
          <a:ext cx="101498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Έλεγχος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8599A"/>
                          </a:solidFill>
                          <a:latin typeface="Calibri"/>
                        </a:defRPr>
                      </a:pPr>
                      <a:r>
                        <a:t>Αποτέλεσμα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Κανονικό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Αλλοίωση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INVALID_HASH_CHAIN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Αλλοίωση υπογραφής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61C26"/>
                          </a:solidFill>
                          <a:latin typeface="Calibri"/>
                        </a:defRPr>
                      </a:pPr>
                      <a:r>
                        <a:t>INVALID_SIGNATURE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0120" y="4434840"/>
            <a:ext cx="1005840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hash-chain πιάνει αλλαγή σε αποθηκευμένο record.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signature verification πιάνει αλλαγή σε signed payload ή υπογραφή.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Περιορισμοί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Δεν είναι production blockchain.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Δεν έχει consensus, mining, wallets ή networking.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Δεν παρέχει privacy από μόνο του.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Η privacy προστασία έρχεται από masking και HE.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prototype έχει δοκιμαστεί κυρίως σε MNIST περιβάλλον.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0312"/>
            <a:ext cx="1110996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161C26"/>
                </a:solidFill>
                <a:latin typeface="Calibri"/>
              </a:defRPr>
            </a:pPr>
            <a:r>
              <a:t>Συμπέρασμα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5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16768" y="6455664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 b="0">
                <a:solidFill>
                  <a:srgbClr val="555C69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Υλοποιήθηκε πλήρες Secure DFL prototype.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Μετρήθηκαν accuracy, loss, communication και crypto overhead.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adaptive hybrid δίνει πιο ελεγχόμενο trade-off.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Το audit layer προσθέτει post-training integrity verification.</a:t>
            </a:r>
          </a:p>
          <a:p>
            <a:pPr>
              <a:spcAft>
                <a:spcPts val="1100"/>
              </a:spcAft>
              <a:defRPr sz="2400" b="0">
                <a:solidFill>
                  <a:srgbClr val="161C26"/>
                </a:solidFill>
                <a:latin typeface="Calibri"/>
              </a:defRPr>
            </a:pPr>
            <a:r>
              <a:t>Η εργασία συνδυάζει learning, security, validation και auditability.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854</Words>
  <Application>Microsoft Office PowerPoint</Application>
  <PresentationFormat>Widescreen</PresentationFormat>
  <Paragraphs>207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ΜΥΛΩΝΑΣ ΔΙΟΝΥΣΙΟΣ</cp:lastModifiedBy>
  <cp:revision>2</cp:revision>
  <dcterms:created xsi:type="dcterms:W3CDTF">2013-01-27T09:14:16Z</dcterms:created>
  <dcterms:modified xsi:type="dcterms:W3CDTF">2026-07-05T19:48:02Z</dcterms:modified>
  <cp:category/>
</cp:coreProperties>
</file>